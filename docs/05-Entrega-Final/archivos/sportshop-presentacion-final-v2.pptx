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5836cb97cff47ef" /><Relationship Type="http://schemas.openxmlformats.org/officeDocument/2006/relationships/extended-properties" Target="/docProps/app.xml" Id="Rabccbab2bbaa4427" /><Relationship Type="http://schemas.openxmlformats.org/officeDocument/2006/relationships/officeDocument" Target="/ppt/presentation.xml" Id="R8dbe4d4df5a442c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6bc68282d274d09"/>
  </p:sldMasterIdLst>
  <p:notesMasterIdLst>
    <p:notesMasterId xmlns:r="http://schemas.openxmlformats.org/officeDocument/2006/relationships" r:id="R2b03c150ea6a4c0b"/>
  </p:notesMasterIdLst>
  <p:sldIdLst>
    <p:sldId xmlns:r="http://schemas.openxmlformats.org/officeDocument/2006/relationships" id="256" r:id="R1a537dec74a14f58"/>
    <p:sldId xmlns:r="http://schemas.openxmlformats.org/officeDocument/2006/relationships" id="257" r:id="R14b20ffa19284f7b"/>
    <p:sldId xmlns:r="http://schemas.openxmlformats.org/officeDocument/2006/relationships" id="258" r:id="Rde705537f6ee4027"/>
    <p:sldId xmlns:r="http://schemas.openxmlformats.org/officeDocument/2006/relationships" id="259" r:id="R1bed9323830b4f10"/>
    <p:sldId xmlns:r="http://schemas.openxmlformats.org/officeDocument/2006/relationships" id="260" r:id="R58bb7f49356146e8"/>
    <p:sldId xmlns:r="http://schemas.openxmlformats.org/officeDocument/2006/relationships" id="261" r:id="R0451dc867bbc47e3"/>
    <p:sldId xmlns:r="http://schemas.openxmlformats.org/officeDocument/2006/relationships" id="262" r:id="Rc1b3a37f9ae047e6"/>
    <p:sldId xmlns:r="http://schemas.openxmlformats.org/officeDocument/2006/relationships" id="263" r:id="Rf6248673ad8a4a1a"/>
    <p:sldId xmlns:r="http://schemas.openxmlformats.org/officeDocument/2006/relationships" id="264" r:id="R7ba70056d89b472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86415941a4f4373" /><Relationship Type="http://schemas.openxmlformats.org/officeDocument/2006/relationships/slideMaster" Target="/ppt/slideMasters/slideMaster1.xml" Id="R86bc68282d274d09" /><Relationship Type="http://schemas.openxmlformats.org/officeDocument/2006/relationships/notesMaster" Target="/ppt/notesMasters/notesMaster1.xml" Id="R2b03c150ea6a4c0b" /><Relationship Type="http://schemas.openxmlformats.org/officeDocument/2006/relationships/presProps" Target="/ppt/presProps.xml" Id="Red86ab2f20524e05" /><Relationship Type="http://schemas.openxmlformats.org/officeDocument/2006/relationships/tableStyles" Target="/ppt/tableStyles.xml" Id="R2f60e50949ca48f0" /><Relationship Type="http://schemas.openxmlformats.org/officeDocument/2006/relationships/slide" Target="/ppt/slides/slide1.xml" Id="R1a537dec74a14f58" /><Relationship Type="http://schemas.openxmlformats.org/officeDocument/2006/relationships/slide" Target="/ppt/slides/slide2.xml" Id="R14b20ffa19284f7b" /><Relationship Type="http://schemas.openxmlformats.org/officeDocument/2006/relationships/slide" Target="/ppt/slides/slide3.xml" Id="Rde705537f6ee4027" /><Relationship Type="http://schemas.openxmlformats.org/officeDocument/2006/relationships/slide" Target="/ppt/slides/slide4.xml" Id="R1bed9323830b4f10" /><Relationship Type="http://schemas.openxmlformats.org/officeDocument/2006/relationships/slide" Target="/ppt/slides/slide5.xml" Id="R58bb7f49356146e8" /><Relationship Type="http://schemas.openxmlformats.org/officeDocument/2006/relationships/slide" Target="/ppt/slides/slide6.xml" Id="R0451dc867bbc47e3" /><Relationship Type="http://schemas.openxmlformats.org/officeDocument/2006/relationships/slide" Target="/ppt/slides/slide7.xml" Id="Rc1b3a37f9ae047e6" /><Relationship Type="http://schemas.openxmlformats.org/officeDocument/2006/relationships/slide" Target="/ppt/slides/slide8.xml" Id="Rf6248673ad8a4a1a" /><Relationship Type="http://schemas.openxmlformats.org/officeDocument/2006/relationships/slide" Target="/ppt/slides/slide9.xml" Id="R7ba70056d89b472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298b9a1cc344a7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aa3e72cf7eb40df" /><Relationship Type="http://schemas.openxmlformats.org/officeDocument/2006/relationships/notesMaster" Target="/ppt/notesMasters/notesMaster1.xml" Id="R42f7591a9be34cb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af35d3417da4144" /><Relationship Type="http://schemas.openxmlformats.org/officeDocument/2006/relationships/notesMaster" Target="/ppt/notesMasters/notesMaster1.xml" Id="R9b45a6b2f23a478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f2230c360934eaa" /><Relationship Type="http://schemas.openxmlformats.org/officeDocument/2006/relationships/notesMaster" Target="/ppt/notesMasters/notesMaster1.xml" Id="R0ad2cc582e614dc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c1c6d25d4344562" /><Relationship Type="http://schemas.openxmlformats.org/officeDocument/2006/relationships/notesMaster" Target="/ppt/notesMasters/notesMaster1.xml" Id="R56833a615d634e5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143e4fc9f6e4836" /><Relationship Type="http://schemas.openxmlformats.org/officeDocument/2006/relationships/notesMaster" Target="/ppt/notesMasters/notesMaster1.xml" Id="Rf015681e634648d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f385f77a3c74b75" /><Relationship Type="http://schemas.openxmlformats.org/officeDocument/2006/relationships/notesMaster" Target="/ppt/notesMasters/notesMaster1.xml" Id="R1ab345c3bb2f4aa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53edbcebc6a49ec" /><Relationship Type="http://schemas.openxmlformats.org/officeDocument/2006/relationships/notesMaster" Target="/ppt/notesMasters/notesMaster1.xml" Id="Ra88c342ce500408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e824a00114d450a" /><Relationship Type="http://schemas.openxmlformats.org/officeDocument/2006/relationships/notesMaster" Target="/ppt/notesMasters/notesMaster1.xml" Id="Ra8759a16656b4b8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b507dbf6d344867" /><Relationship Type="http://schemas.openxmlformats.org/officeDocument/2006/relationships/notesMaster" Target="/ppt/notesMasters/notesMaster1.xml" Id="Rbf4fd654d34e4c0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b18b9076494c6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c02cf5bf84489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5c10135f774280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9c42b0604143d6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df90e7ea31479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7fdbe87cef488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218D31F-B6BB-47CD-A5EC-5171B5D8BE1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3D95AC0-3C79-47F8-8882-7875E8F35D9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101E75F-E01C-4B30-B07E-2EFED66D2D2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A3EA9FA-9302-45B1-85A4-A79A4FD6E08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78188E84-B427-4BBF-A709-E3D82E3C138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794E4DD-ED47-4071-A242-6451791B2EC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7CCF271-E274-4257-B276-BA299E7ADB3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A5B3AE8-AFBA-4EAB-9812-6B1CAE8F4A8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68A7F09-98E8-4E07-B1DD-1D066CC7C5F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0CCFC7D-4F06-48C7-AAC9-98081320E93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c51e7e23a32455e" /><Relationship Type="http://schemas.openxmlformats.org/officeDocument/2006/relationships/slideLayout" Target="/ppt/slideLayouts/slideLayout1.xml" Id="R0be303f602f7422b" /><Relationship Type="http://schemas.openxmlformats.org/officeDocument/2006/relationships/slideLayout" Target="/ppt/slideLayouts/slideLayout2.xml" Id="Rd66e656ab692485a" /><Relationship Type="http://schemas.openxmlformats.org/officeDocument/2006/relationships/slideLayout" Target="/ppt/slideLayouts/slideLayout3.xml" Id="Rcc4f9e858f884572" /><Relationship Type="http://schemas.openxmlformats.org/officeDocument/2006/relationships/slideLayout" Target="/ppt/slideLayouts/slideLayout4.xml" Id="Re3dcf8d99f2b4ef6" /><Relationship Type="http://schemas.openxmlformats.org/officeDocument/2006/relationships/slideLayout" Target="/ppt/slideLayouts/slideLayout5.xml" Id="Reb1d91257c474be6" /><Relationship Type="http://schemas.openxmlformats.org/officeDocument/2006/relationships/slideLayout" Target="/ppt/slideLayouts/slideLayout6.xml" Id="R722afd778af846f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be303f602f7422b"/>
    <p:sldLayoutId xmlns:r="http://schemas.openxmlformats.org/officeDocument/2006/relationships" id="2147483650" r:id="Rd66e656ab692485a"/>
    <p:sldLayoutId xmlns:r="http://schemas.openxmlformats.org/officeDocument/2006/relationships" id="2147483651" r:id="Rcc4f9e858f884572"/>
    <p:sldLayoutId xmlns:r="http://schemas.openxmlformats.org/officeDocument/2006/relationships" id="2147483652" r:id="Re3dcf8d99f2b4ef6"/>
    <p:sldLayoutId xmlns:r="http://schemas.openxmlformats.org/officeDocument/2006/relationships" id="2147483653" r:id="Reb1d91257c474be6"/>
    <p:sldLayoutId xmlns:r="http://schemas.openxmlformats.org/officeDocument/2006/relationships" id="2147483654" r:id="R722afd778af846f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7ef3609122b49d0" /><Relationship Type="http://schemas.openxmlformats.org/officeDocument/2006/relationships/notesSlide" Target="/ppt/notesSlides/notesSlide1.xml" Id="R29e328945e7349f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42b8279264049eb" /><Relationship Type="http://schemas.openxmlformats.org/officeDocument/2006/relationships/notesSlide" Target="/ppt/notesSlides/notesSlide2.xml" Id="Rc4ceb08685794e6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c94478817204f3d" /><Relationship Type="http://schemas.openxmlformats.org/officeDocument/2006/relationships/notesSlide" Target="/ppt/notesSlides/notesSlide3.xml" Id="R1b6716b0c5db4d9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5f7fd6297d34407" /><Relationship Type="http://schemas.openxmlformats.org/officeDocument/2006/relationships/notesSlide" Target="/ppt/notesSlides/notesSlide4.xml" Id="Rc3362d7dac4143c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1f51b5d28504f02" /><Relationship Type="http://schemas.openxmlformats.org/officeDocument/2006/relationships/notesSlide" Target="/ppt/notesSlides/notesSlide5.xml" Id="R4964665ca09b482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c2b2139a14a438a" /><Relationship Type="http://schemas.openxmlformats.org/officeDocument/2006/relationships/notesSlide" Target="/ppt/notesSlides/notesSlide6.xml" Id="R0995d1ddea3b458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7a0ee9c58545c2" /><Relationship Type="http://schemas.openxmlformats.org/officeDocument/2006/relationships/notesSlide" Target="/ppt/notesSlides/notesSlide7.xml" Id="Ra81b10e4313546b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75efc8b66334a07" /><Relationship Type="http://schemas.openxmlformats.org/officeDocument/2006/relationships/notesSlide" Target="/ppt/notesSlides/notesSlide8.xml" Id="Re1114c4b78454fc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9ba3fe34df44c64" /><Relationship Type="http://schemas.openxmlformats.org/officeDocument/2006/relationships/notesSlide" Target="/ppt/notesSlides/notesSlide9.xml" Id="R492c5e629f1a487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29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28F257-44EE-4317-8FB3-75084BF94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8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0C6F78-1355-4799-B24E-54B4B3A54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D8DFE7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1">
                <a:solidFill>
                  <a:srgbClr val="D8DFE7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1">
                <a:solidFill>
                  <a:srgbClr val="D8DFE7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1">
                <a:solidFill>
                  <a:srgbClr val="D8DFE7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1">
                <a:solidFill>
                  <a:srgbClr val="D8DFE7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1">
                <a:solidFill>
                  <a:srgbClr val="D8DFE7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1">
                <a:solidFill>
                  <a:srgbClr val="D8DFE7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1">
                <a:solidFill>
                  <a:srgbClr val="D8DFE7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1">
                <a:solidFill>
                  <a:srgbClr val="D8DFE7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1">
                <a:solidFill>
                  <a:srgbClr val="D8DFE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1">
                <a:solidFill>
                  <a:srgbClr val="D8DFE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8DFE7"/>
                </a:solidFill>
                <a:latin typeface="Arial"/>
                <a:ea typeface="Arial"/>
                <a:cs typeface="Arial"/>
              </a:rPr>
              <a:t>ÉLITE SPORT  /  PROYECTO DE SISTEMAS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4B16C9-1368-4DD8-A333-E75F217DB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627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D8DFE7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1">
                <a:solidFill>
                  <a:srgbClr val="D8DFE7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1">
                <a:solidFill>
                  <a:srgbClr val="D8DFE7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1">
                <a:solidFill>
                  <a:srgbClr val="D8DFE7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1">
                <a:solidFill>
                  <a:srgbClr val="D8DFE7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1">
                <a:solidFill>
                  <a:srgbClr val="D8DFE7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1">
                <a:solidFill>
                  <a:srgbClr val="D8DFE7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1">
                <a:solidFill>
                  <a:srgbClr val="D8DFE7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1">
                <a:solidFill>
                  <a:srgbClr val="D8DFE7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1">
                <a:solidFill>
                  <a:srgbClr val="D8DFE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1">
                <a:solidFill>
                  <a:srgbClr val="D8DFE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8DFE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A714DB-F041-438C-862A-D95370C2B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93345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CICLO DE VIDA DE UN</a:t>
            </a:r>
          </a:p>
          <a:p xmlns:a="http://schemas.openxmlformats.org/drawingml/2006/main">
            <a:pPr>
              <a:buNone/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PROYECTO EN UNA TIENDA</a:t>
            </a:r>
          </a:p>
          <a:p xmlns:a="http://schemas.openxmlformats.org/drawingml/2006/main">
            <a:pPr>
              <a:buNone/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 DEPORTES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A3B6BC-47EC-4B66-B8E3-7473D0F5E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48150"/>
            <a:ext cx="1238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8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576C47-4AE0-4AF1-8376-FED38C0CB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5295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D8DFE7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00" b="1">
                <a:solidFill>
                  <a:srgbClr val="D8DFE7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1">
                <a:solidFill>
                  <a:srgbClr val="D8DFE7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00" b="1">
                <a:solidFill>
                  <a:srgbClr val="D8DFE7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 b="1">
                <a:solidFill>
                  <a:srgbClr val="D8DFE7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00" b="1">
                <a:solidFill>
                  <a:srgbClr val="D8DFE7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00" b="1">
                <a:solidFill>
                  <a:srgbClr val="D8DFE7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00" b="1">
                <a:solidFill>
                  <a:srgbClr val="D8DFE7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00" b="1">
                <a:solidFill>
                  <a:srgbClr val="D8DFE7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00" b="1">
                <a:solidFill>
                  <a:srgbClr val="D8DFE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1">
                <a:solidFill>
                  <a:srgbClr val="D8DFE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D8DFE7"/>
                </a:solidFill>
                <a:latin typeface="Arial"/>
                <a:ea typeface="Arial"/>
                <a:cs typeface="Arial"/>
              </a:rPr>
              <a:t>SPORTSHOP · ÉLITE SPORT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04BB53-C75A-4D0D-BF03-D4BC87D02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86350"/>
            <a:ext cx="838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650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650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650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650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650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650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650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650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650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650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D8DFE7"/>
                </a:solidFill>
                <a:latin typeface="Arial"/>
                <a:ea typeface="Arial"/>
                <a:cs typeface="Arial"/>
              </a:rPr>
              <a:t>Migración gradual a React, Express y Supabase</a:t>
            </a:r>
          </a:p>
        </p:txBody>
      </p:sp>
    </p:spTree>
    <p:extLst>
      <p:ext uri="{BB962C8B-B14F-4D97-AF65-F5344CB8AC3E}">
        <p14:creationId xmlns:p14="http://schemas.microsoft.com/office/powerpoint/2010/main" val="60821083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255393-03E3-41F0-AD10-FC7F22F31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8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A69812-091C-4796-8754-740D9466A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36273"/>
                </a:solidFill>
                <a:latin typeface="Arial"/>
                <a:ea typeface="Arial"/>
                <a:cs typeface="Arial"/>
              </a:rPr>
              <a:t>ÉLITE SPORT  /  PROYECTO DE SISTEMAS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D1803F-2D7F-4161-8E1E-559E5199E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0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0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0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0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0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0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0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0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0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0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93D"/>
                </a:solidFill>
                <a:latin typeface="Arial"/>
                <a:ea typeface="Arial"/>
                <a:cs typeface="Arial"/>
              </a:rPr>
              <a:t>Problema y objetivo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4FD8DC-96F2-4B78-A16A-9C8FF9E72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627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3627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AFEBF1-3A7F-4BC0-A613-85C86727F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24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8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02263E-2F0F-4724-B375-EE98B215F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809750"/>
            <a:ext cx="10287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La tienda original concentra la experiencia en HTML, CSS y JavaScript.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759061-4703-47BE-8022-86AA6637A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003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8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25A5B1-C44E-430E-958E-E85694938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86050"/>
            <a:ext cx="10287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La migración separa interfaz, API y persistencia para facilitar mantenimiento.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BE1FE3-9A59-412B-85F0-FA5D26B18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766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8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C76601-D47D-4528-A5FA-B982CE150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62350"/>
            <a:ext cx="10287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El proyecto conserva la tienda original y la identidad visual de Élite Sport.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0DEF0A-7ED7-4FFF-866F-CE0BA12EA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529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8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CC7B6A-840A-4701-BD2D-A975BFCAC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438650"/>
            <a:ext cx="10287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La meta académica es organizar necesidades, implementación, pruebas y mejoras.</a:t>
            </a:r>
          </a:p>
        </p:txBody>
      </p:sp>
    </p:spTree>
    <p:extLst>
      <p:ext uri="{BB962C8B-B14F-4D97-AF65-F5344CB8AC3E}">
        <p14:creationId xmlns:p14="http://schemas.microsoft.com/office/powerpoint/2010/main" val="148336197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6FC9B8-501E-4B07-B555-F4D2A3883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8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2A3307-6223-4BE6-86C1-E0148F033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36273"/>
                </a:solidFill>
                <a:latin typeface="Arial"/>
                <a:ea typeface="Arial"/>
                <a:cs typeface="Arial"/>
              </a:rPr>
              <a:t>ÉLITE SPORT  /  PROYECTO DE SISTEMAS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D32E95-93A8-40E5-9C77-73BC0D418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0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0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0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0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0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0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0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0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0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0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93D"/>
                </a:solidFill>
                <a:latin typeface="Arial"/>
                <a:ea typeface="Arial"/>
                <a:cs typeface="Arial"/>
              </a:rPr>
              <a:t>Arquitectura de la aplicación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E96B02-AEC5-4B93-B0FE-29F12DD56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627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3627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09B137-747C-48C9-88E1-A550FB26E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76450"/>
            <a:ext cx="304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93D"/>
                </a:solidFill>
                <a:latin typeface="Arial"/>
                <a:ea typeface="Arial"/>
                <a:cs typeface="Arial"/>
              </a:rPr>
              <a:t>React + Vite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8F165A-8F26-40B6-95A4-2A0D32FE6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3048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8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1781AD7-6A3A-4093-AD12-FA4939464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52750"/>
            <a:ext cx="3048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7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7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7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7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7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7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7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7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7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Catálogo y navegación</a:t>
            </a:r>
          </a:p>
          <a:p xmlns:a="http://schemas.openxmlformats.org/drawingml/2006/main">
            <a:pPr>
              <a:buNone/>
              <a:defRPr sz="17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Carrito y cuenta</a:t>
            </a:r>
          </a:p>
          <a:p xmlns:a="http://schemas.openxmlformats.org/drawingml/2006/main">
            <a:pPr>
              <a:buNone/>
              <a:defRPr sz="17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Paneles operativos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521513-8428-4E57-B966-8AB9F80F1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076450"/>
            <a:ext cx="304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93D"/>
                </a:solidFill>
                <a:latin typeface="Arial"/>
                <a:ea typeface="Arial"/>
                <a:cs typeface="Arial"/>
              </a:rPr>
              <a:t>Node.js + Express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87B5A8-CEF4-4370-B5C3-16EACFA75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647950"/>
            <a:ext cx="3048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8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04F9CD-12FD-419A-B07B-18FBF56CC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952750"/>
            <a:ext cx="3048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7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7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7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7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7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7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7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7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7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API versionada</a:t>
            </a:r>
          </a:p>
          <a:p xmlns:a="http://schemas.openxmlformats.org/drawingml/2006/main">
            <a:pPr>
              <a:buNone/>
              <a:defRPr sz="17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Validación y roles</a:t>
            </a:r>
          </a:p>
          <a:p xmlns:a="http://schemas.openxmlformats.org/drawingml/2006/main">
            <a:pPr>
              <a:buNone/>
              <a:defRPr sz="17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Integración de pagos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743D21-A27E-4892-A42A-12B43CA86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076450"/>
            <a:ext cx="304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1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1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1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1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1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1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1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1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1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1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93D"/>
                </a:solidFill>
                <a:latin typeface="Arial"/>
                <a:ea typeface="Arial"/>
                <a:cs typeface="Arial"/>
              </a:rPr>
              <a:t>Supabase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8EF0B7-C89A-4BFA-82EA-73D4B3C0B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647950"/>
            <a:ext cx="3048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8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C7F61F-E96D-4C30-8529-AAED03639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952750"/>
            <a:ext cx="3048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7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7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7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7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7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7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7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7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7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PostgreSQL</a:t>
            </a:r>
          </a:p>
          <a:p xmlns:a="http://schemas.openxmlformats.org/drawingml/2006/main">
            <a:pPr>
              <a:buNone/>
              <a:defRPr sz="17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Autenticación</a:t>
            </a:r>
          </a:p>
          <a:p xmlns:a="http://schemas.openxmlformats.org/drawingml/2006/main">
            <a:pPr>
              <a:buNone/>
              <a:defRPr sz="17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Persistencia y RLS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7DFED6-1FCA-463F-8D28-180510166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75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75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75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75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75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75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75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75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75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75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93D"/>
                </a:solidFill>
                <a:latin typeface="Arial"/>
                <a:ea typeface="Arial"/>
                <a:cs typeface="Arial"/>
              </a:rPr>
              <a:t>Mercado Pago se consulta desde el servidor; la respuesta del navegador no acredita el pago.</a:t>
            </a:r>
          </a:p>
        </p:txBody>
      </p:sp>
    </p:spTree>
    <p:extLst>
      <p:ext uri="{BB962C8B-B14F-4D97-AF65-F5344CB8AC3E}">
        <p14:creationId xmlns:p14="http://schemas.microsoft.com/office/powerpoint/2010/main" val="101195916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729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62F97D8-D6DB-4A34-8E1F-3D34E53AB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8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1C527D-457E-43BA-AB0D-B8365645B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D8DFE7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1">
                <a:solidFill>
                  <a:srgbClr val="D8DFE7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1">
                <a:solidFill>
                  <a:srgbClr val="D8DFE7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1">
                <a:solidFill>
                  <a:srgbClr val="D8DFE7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1">
                <a:solidFill>
                  <a:srgbClr val="D8DFE7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1">
                <a:solidFill>
                  <a:srgbClr val="D8DFE7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1">
                <a:solidFill>
                  <a:srgbClr val="D8DFE7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1">
                <a:solidFill>
                  <a:srgbClr val="D8DFE7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1">
                <a:solidFill>
                  <a:srgbClr val="D8DFE7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1">
                <a:solidFill>
                  <a:srgbClr val="D8DFE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1">
                <a:solidFill>
                  <a:srgbClr val="D8DFE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8DFE7"/>
                </a:solidFill>
                <a:latin typeface="Arial"/>
                <a:ea typeface="Arial"/>
                <a:cs typeface="Arial"/>
              </a:rPr>
              <a:t>ÉLITE SPORT  /  PROYECTO DE SISTEMAS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C21FC5-37BE-46F0-8A26-313B732DC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Ciclo de vida del proyecto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4F236E-EB1B-4D5D-97C4-3F1409C2F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627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D8DFE7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1">
                <a:solidFill>
                  <a:srgbClr val="D8DFE7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1">
                <a:solidFill>
                  <a:srgbClr val="D8DFE7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1">
                <a:solidFill>
                  <a:srgbClr val="D8DFE7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1">
                <a:solidFill>
                  <a:srgbClr val="D8DFE7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1">
                <a:solidFill>
                  <a:srgbClr val="D8DFE7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1">
                <a:solidFill>
                  <a:srgbClr val="D8DFE7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1">
                <a:solidFill>
                  <a:srgbClr val="D8DFE7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1">
                <a:solidFill>
                  <a:srgbClr val="D8DFE7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1">
                <a:solidFill>
                  <a:srgbClr val="D8DFE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1">
                <a:solidFill>
                  <a:srgbClr val="D8DFE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8DFE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104DFE-F5A1-4CD0-9CD6-C99E9A29E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38375"/>
            <a:ext cx="571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8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8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8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8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8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8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8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8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8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8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D88942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5A7164-A4E5-45AB-A367-E84F1304C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76550"/>
            <a:ext cx="1952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Inicio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EDCEF5-DFC6-40C2-A061-AC28FFEDF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05200"/>
            <a:ext cx="195262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425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425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425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425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425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425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425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425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425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8DFE7"/>
                </a:solidFill>
                <a:latin typeface="Arial"/>
                <a:ea typeface="Arial"/>
                <a:cs typeface="Arial"/>
              </a:rPr>
              <a:t>Necesidad y alcance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4A35E9-8ED6-4827-B099-A82D248AB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238375"/>
            <a:ext cx="361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2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2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2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2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2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2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2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2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2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88942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8D5730-8837-448A-A755-2D740A653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238375"/>
            <a:ext cx="571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8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8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8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8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8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8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8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8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8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8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D88942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D3FFFB-5418-4DDA-95FA-B1787B64E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876550"/>
            <a:ext cx="1952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Planificación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961DA9-72B6-4954-8D73-E7EE67DD5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505200"/>
            <a:ext cx="195262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425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425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425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425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425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425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425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425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425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8DFE7"/>
                </a:solidFill>
                <a:latin typeface="Arial"/>
                <a:ea typeface="Arial"/>
                <a:cs typeface="Arial"/>
              </a:rPr>
              <a:t>Fases, responsables y fechas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0AE577-A07C-4205-9396-B809D6EE8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238375"/>
            <a:ext cx="361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2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2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2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2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2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2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2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2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2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88942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0BDCF4-9594-4CE4-8541-B67C7876D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238375"/>
            <a:ext cx="571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8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8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8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8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8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8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8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8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8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8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D88942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50B999-8A81-4D85-816A-B0883E35C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876550"/>
            <a:ext cx="1952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Ejecución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199F55-5A7D-4B25-82AA-DA2FD4BA9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505200"/>
            <a:ext cx="195262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425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425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425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425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425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425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425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425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425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8DFE7"/>
                </a:solidFill>
                <a:latin typeface="Arial"/>
                <a:ea typeface="Arial"/>
                <a:cs typeface="Arial"/>
              </a:rPr>
              <a:t>Tareas y cambios registrados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E6AE57-6787-4073-888B-E7EE439CF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238375"/>
            <a:ext cx="361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2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2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2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2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2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2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2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2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2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88942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C60B23-C17F-4071-A106-8BE9DCB17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238375"/>
            <a:ext cx="571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8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8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8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8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8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8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8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8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8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8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D88942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F314DA-2D43-4D9C-B0BE-0840DFE46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876550"/>
            <a:ext cx="1952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Seguimiento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70FD51-CE42-4CE9-9177-4BA5759C6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505200"/>
            <a:ext cx="195262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425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425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425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425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425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425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425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425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425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8DFE7"/>
                </a:solidFill>
                <a:latin typeface="Arial"/>
                <a:ea typeface="Arial"/>
                <a:cs typeface="Arial"/>
              </a:rPr>
              <a:t>Avance, vencimientos e indicadores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2F14AD-F4A8-4406-BD18-FDD4BECDC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238375"/>
            <a:ext cx="361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2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2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2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2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2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2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2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2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2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2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88942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15B033-4CF0-43E0-A1A2-9DCFC93EC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238375"/>
            <a:ext cx="571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8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8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8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8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8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8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8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8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8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8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D88942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3EEED4-D094-4F11-9E4B-CE2DE710F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876550"/>
            <a:ext cx="1952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Cierre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DB3BD8-B7A1-4839-9D10-0D1C6EFA9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505200"/>
            <a:ext cx="1952625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425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425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425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425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425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425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425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425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425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425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D8DFE7"/>
                </a:solidFill>
                <a:latin typeface="Arial"/>
                <a:ea typeface="Arial"/>
                <a:cs typeface="Arial"/>
              </a:rPr>
              <a:t>Validación y mejoras futuras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2CDD218-30BC-4310-BE82-AA1AC7024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1970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00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00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00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00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00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00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00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00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00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00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D8DFE7"/>
                </a:solidFill>
                <a:latin typeface="Arial"/>
                <a:ea typeface="Arial"/>
                <a:cs typeface="Arial"/>
              </a:rPr>
              <a:t>El módulo de proyectos guarda fases, tareas e historial en Supabase; requiere validar sus migraciones en desarrollo.</a:t>
            </a:r>
          </a:p>
        </p:txBody>
      </p:sp>
    </p:spTree>
    <p:extLst>
      <p:ext uri="{BB962C8B-B14F-4D97-AF65-F5344CB8AC3E}">
        <p14:creationId xmlns:p14="http://schemas.microsoft.com/office/powerpoint/2010/main" val="74411713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5A615B-18B1-44E8-A550-DFEFDD962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8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C53D11-2E05-454C-9DA9-250680A87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36273"/>
                </a:solidFill>
                <a:latin typeface="Arial"/>
                <a:ea typeface="Arial"/>
                <a:cs typeface="Arial"/>
              </a:rPr>
              <a:t>ÉLITE SPORT  /  PROYECTO DE SISTEMAS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717213-DBA1-46C8-AB44-F6AF45B71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0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0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0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0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0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0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0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0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0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0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93D"/>
                </a:solidFill>
                <a:latin typeface="Arial"/>
                <a:ea typeface="Arial"/>
                <a:cs typeface="Arial"/>
              </a:rPr>
              <a:t>Comercio electrónico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FBB47A-479E-4139-BA4C-58CDD4137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627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36273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11212D-5E1B-4B0F-8CC6-121C89D33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050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8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A7CFA4-F5CB-48F8-B7B0-B20E20E78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90700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0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0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0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0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0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0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0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El catálogo React consulta productos y variantes publicados por la API.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F8338B-33B1-4847-A86F-722783FA6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241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8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D7A0F8-6BC7-4F8E-8C5C-9CE85F4A4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09850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0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0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0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0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0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0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0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El servidor vuelve a leer precios y disponibilidad al crear un pedido.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9B5385-D590-4F21-B8FA-3728A804A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43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8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B0C768-D6D9-4198-B369-95F9F6E07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29000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0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0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0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0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0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0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0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El pago aprobado se verifica consultando Mercado Pago desde el backend.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D9B022-7BAA-4538-9EA3-56A1052BD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624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8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CC8816-67BB-45C3-BBA5-77D0F3B50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48150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0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0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0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0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0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0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0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El historial de compras se limita a la cuenta autenticada.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AE7448-E666-4292-A84E-F6028A65E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72100"/>
            <a:ext cx="10382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5D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050843-6976-4701-89EC-65EF4F500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505450"/>
            <a:ext cx="9982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425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425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425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425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425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425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425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425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425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425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293D"/>
                </a:solidFill>
                <a:latin typeface="Arial"/>
                <a:ea typeface="Arial"/>
                <a:cs typeface="Arial"/>
              </a:rPr>
              <a:t>Pendiente de integración real: clave persistida para reintentos y webhook con deduplicación transaccional.</a:t>
            </a:r>
          </a:p>
        </p:txBody>
      </p:sp>
    </p:spTree>
    <p:extLst>
      <p:ext uri="{BB962C8B-B14F-4D97-AF65-F5344CB8AC3E}">
        <p14:creationId xmlns:p14="http://schemas.microsoft.com/office/powerpoint/2010/main" val="204136545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A7A142-265F-4190-96B7-6B7E7619A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8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686BBC-67B4-4371-A602-7AED6BC82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36273"/>
                </a:solidFill>
                <a:latin typeface="Arial"/>
                <a:ea typeface="Arial"/>
                <a:cs typeface="Arial"/>
              </a:rPr>
              <a:t>ÉLITE SPORT  /  PROYECTO DE SISTEMAS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FBBDF5-0343-48B7-878E-ABFCB9842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0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0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0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0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0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0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0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0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0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0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93D"/>
                </a:solidFill>
                <a:latin typeface="Arial"/>
                <a:ea typeface="Arial"/>
                <a:cs typeface="Arial"/>
              </a:rPr>
              <a:t>Inventario y punto de venta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9C9FB8-EC07-4E20-9C2F-E5800F5B0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627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36273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6D7C47-6FC9-4C8E-9D9C-50CF1ED5A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240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8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EF941D-2284-4D6C-9D85-DBB9ED411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809750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7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7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7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7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7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7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7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7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7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Inventario registra movimientos con motivo y responsable.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047CBA-E708-4A42-951B-92B728669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432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8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B52999-CF96-4222-A5C0-2AD0C720A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28900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7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7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7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7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7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7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7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7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7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POS vuelve a leer precios, bloquea variantes y descuenta stock en una función SQL.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D75D50-89E5-42FA-A2A8-F36A1EDEC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623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8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8DBFE58-0FEB-4FAF-AA0B-A22771416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48050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7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7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7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7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7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7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7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7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7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La venta presencial admite una clave de solicitud para evitar duplicados.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A6E028-705B-40B8-98A0-82046DCA7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815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8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A5C924-5E93-48CF-B49B-19AD82E71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7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7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7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7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7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7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7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7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7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72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El medio de pago se registra como informado; no se simula una autorización bancaria.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BBD0CF-DC42-41DF-9D2A-6329DA647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7210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93D"/>
                </a:solidFill>
                <a:latin typeface="Arial"/>
                <a:ea typeface="Arial"/>
                <a:cs typeface="Arial"/>
              </a:rPr>
              <a:t>El stock de pedidos online depende de triggers que todavía deben comprobarse en la instancia.</a:t>
            </a:r>
          </a:p>
        </p:txBody>
      </p:sp>
    </p:spTree>
    <p:extLst>
      <p:ext uri="{BB962C8B-B14F-4D97-AF65-F5344CB8AC3E}">
        <p14:creationId xmlns:p14="http://schemas.microsoft.com/office/powerpoint/2010/main" val="135456256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9BF93B-819C-46C4-8AD4-890A2ADF1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8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063304-A53C-4E0E-ADE1-50131BB6B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36273"/>
                </a:solidFill>
                <a:latin typeface="Arial"/>
                <a:ea typeface="Arial"/>
                <a:cs typeface="Arial"/>
              </a:rPr>
              <a:t>ÉLITE SPORT  /  PROYECTO DE SISTEMAS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2DD3AB-7AD3-4732-AB4E-EA2BE3FB1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0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0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0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0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0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0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0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0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0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0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93D"/>
                </a:solidFill>
                <a:latin typeface="Arial"/>
                <a:ea typeface="Arial"/>
                <a:cs typeface="Arial"/>
              </a:rPr>
              <a:t>Roles y gestión interna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98D15F-2548-4673-BFD7-670C516EC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627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36273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20D788-A216-44FD-B3CA-F3AABE66C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47900"/>
            <a:ext cx="304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93D"/>
                </a:solidFill>
                <a:latin typeface="Arial"/>
                <a:ea typeface="Arial"/>
                <a:cs typeface="Arial"/>
              </a:rPr>
              <a:t>Cliente</a:t>
            </a:r>
          </a:p>
          <a:p xmlns:a="http://schemas.openxmlformats.org/drawingml/2006/main">
            <a:pPr>
              <a:buNone/>
              <a:defRPr sz="18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93D"/>
                </a:solidFill>
                <a:latin typeface="Arial"/>
                <a:ea typeface="Arial"/>
                <a:cs typeface="Arial"/>
              </a:rPr>
              <a:t>Catálogo, checkout, perfil</a:t>
            </a:r>
          </a:p>
          <a:p xmlns:a="http://schemas.openxmlformats.org/drawingml/2006/main">
            <a:pPr>
              <a:buNone/>
              <a:defRPr sz="18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93D"/>
                </a:solidFill>
                <a:latin typeface="Arial"/>
                <a:ea typeface="Arial"/>
                <a:cs typeface="Arial"/>
              </a:rPr>
              <a:t>y sus propios pedidos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8B1672-260D-4BC9-B829-CDA8C0828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228850"/>
            <a:ext cx="381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8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3FE7F5-ACBA-40B4-BE56-36CAE32D6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247900"/>
            <a:ext cx="304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93D"/>
                </a:solidFill>
                <a:latin typeface="Arial"/>
                <a:ea typeface="Arial"/>
                <a:cs typeface="Arial"/>
              </a:rPr>
              <a:t>Empleado</a:t>
            </a:r>
          </a:p>
          <a:p xmlns:a="http://schemas.openxmlformats.org/drawingml/2006/main">
            <a:pPr>
              <a:buNone/>
              <a:defRPr sz="18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93D"/>
                </a:solidFill>
                <a:latin typeface="Arial"/>
                <a:ea typeface="Arial"/>
                <a:cs typeface="Arial"/>
              </a:rPr>
              <a:t>Inventario, POS y tareas</a:t>
            </a:r>
          </a:p>
          <a:p xmlns:a="http://schemas.openxmlformats.org/drawingml/2006/main">
            <a:pPr>
              <a:buNone/>
              <a:defRPr sz="18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93D"/>
                </a:solidFill>
                <a:latin typeface="Arial"/>
                <a:ea typeface="Arial"/>
                <a:cs typeface="Arial"/>
              </a:rPr>
              <a:t>asignadas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6C256F-8AC4-4EC5-8EA2-9938E8F14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228850"/>
            <a:ext cx="381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8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3DE451-2873-40BB-936C-BCA70BEC5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247900"/>
            <a:ext cx="304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8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8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8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8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8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8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8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8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8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8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93D"/>
                </a:solidFill>
                <a:latin typeface="Arial"/>
                <a:ea typeface="Arial"/>
                <a:cs typeface="Arial"/>
              </a:rPr>
              <a:t>Administrador</a:t>
            </a:r>
          </a:p>
          <a:p xmlns:a="http://schemas.openxmlformats.org/drawingml/2006/main">
            <a:pPr>
              <a:buNone/>
              <a:defRPr sz="18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93D"/>
                </a:solidFill>
                <a:latin typeface="Arial"/>
                <a:ea typeface="Arial"/>
                <a:cs typeface="Arial"/>
              </a:rPr>
              <a:t>Productos, personal, clientes,</a:t>
            </a:r>
          </a:p>
          <a:p xmlns:a="http://schemas.openxmlformats.org/drawingml/2006/main">
            <a:pPr>
              <a:buNone/>
              <a:defRPr sz="18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293D"/>
                </a:solidFill>
                <a:latin typeface="Arial"/>
                <a:ea typeface="Arial"/>
                <a:cs typeface="Arial"/>
              </a:rPr>
              <a:t>proyectos e informes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5C73E5-6178-4A0B-B0E2-3412526D4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2500"/>
            <a:ext cx="1019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7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7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7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7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7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7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7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7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7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75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La API verifica roles en cada operación privada. Las políticas RLS y el esquema de la instancia aún requieren revisión.</a:t>
            </a:r>
          </a:p>
        </p:txBody>
      </p:sp>
    </p:spTree>
    <p:extLst>
      <p:ext uri="{BB962C8B-B14F-4D97-AF65-F5344CB8AC3E}">
        <p14:creationId xmlns:p14="http://schemas.microsoft.com/office/powerpoint/2010/main" val="120133193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729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1A064E-CFEA-409E-ACF6-CA504B5C8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8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F4273B-C2EC-4B92-A8EE-37BC108E2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D8DFE7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1">
                <a:solidFill>
                  <a:srgbClr val="D8DFE7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1">
                <a:solidFill>
                  <a:srgbClr val="D8DFE7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1">
                <a:solidFill>
                  <a:srgbClr val="D8DFE7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1">
                <a:solidFill>
                  <a:srgbClr val="D8DFE7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1">
                <a:solidFill>
                  <a:srgbClr val="D8DFE7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1">
                <a:solidFill>
                  <a:srgbClr val="D8DFE7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1">
                <a:solidFill>
                  <a:srgbClr val="D8DFE7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1">
                <a:solidFill>
                  <a:srgbClr val="D8DFE7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1">
                <a:solidFill>
                  <a:srgbClr val="D8DFE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1">
                <a:solidFill>
                  <a:srgbClr val="D8DFE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8DFE7"/>
                </a:solidFill>
                <a:latin typeface="Arial"/>
                <a:ea typeface="Arial"/>
                <a:cs typeface="Arial"/>
              </a:rPr>
              <a:t>ÉLITE SPORT  /  PROYECTO DE SISTEMAS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DBFD55-BF89-4975-B846-061BEF909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0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Pruebas realizadas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F40BE3-4A90-45EE-A4D1-E61FD6DFB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627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D8DFE7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1">
                <a:solidFill>
                  <a:srgbClr val="D8DFE7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1">
                <a:solidFill>
                  <a:srgbClr val="D8DFE7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1">
                <a:solidFill>
                  <a:srgbClr val="D8DFE7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1">
                <a:solidFill>
                  <a:srgbClr val="D8DFE7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1">
                <a:solidFill>
                  <a:srgbClr val="D8DFE7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1">
                <a:solidFill>
                  <a:srgbClr val="D8DFE7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1">
                <a:solidFill>
                  <a:srgbClr val="D8DFE7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1">
                <a:solidFill>
                  <a:srgbClr val="D8DFE7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1">
                <a:solidFill>
                  <a:srgbClr val="D8DFE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1">
                <a:solidFill>
                  <a:srgbClr val="D8DFE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D8DFE7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C05A58-6D12-4FBD-9E45-D7E71F2AD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24050"/>
            <a:ext cx="3429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3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43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43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43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43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43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43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43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43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43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4350" b="1">
                <a:solidFill>
                  <a:srgbClr val="D88942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D88942"/>
                </a:solidFill>
                <a:latin typeface="Arial"/>
                <a:ea typeface="Arial"/>
                <a:cs typeface="Arial"/>
              </a:rPr>
              <a:t>27 / 27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E3CCD6-03C9-4C8E-84B3-2EC76E666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14650"/>
            <a:ext cx="5429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20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pruebas unitarias del backend aprobadas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A73A07-D7D3-4375-A41D-85161FDC6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576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8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37B27F-FE93-4F51-8BAC-7B00F5D4F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4335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00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00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00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00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00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00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00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00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00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00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D8DFE7"/>
                </a:solidFill>
                <a:latin typeface="Arial"/>
                <a:ea typeface="Arial"/>
                <a:cs typeface="Arial"/>
              </a:rPr>
              <a:t>Validaciones, reintentos, estados inesperados y errores de consulta.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12E4EF-F0B4-4F0D-A0A4-235BB1845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244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8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85FFFC-FC71-419F-9152-B093B1992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61010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00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00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00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00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00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00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00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00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00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00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D8DFE7"/>
                </a:solidFill>
                <a:latin typeface="Arial"/>
                <a:ea typeface="Arial"/>
                <a:cs typeface="Arial"/>
              </a:rPr>
              <a:t>Firmas webhook sintéticas y contrato de deduplicación con mocks.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E0402B-3FFF-446D-8F7C-F09EFF314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3911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8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33F213-E802-4B16-AA62-2C5DA6140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27685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00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00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00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00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00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00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00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00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00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00" b="0">
                <a:solidFill>
                  <a:srgbClr val="D8DFE7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D8DFE7"/>
                </a:solidFill>
                <a:latin typeface="Arial"/>
                <a:ea typeface="Arial"/>
                <a:cs typeface="Arial"/>
              </a:rPr>
              <a:t>Sintaxis de módulos Node.js y revisión de espacios en los cambios.</a:t>
            </a:r>
          </a:p>
        </p:txBody>
      </p:sp>
    </p:spTree>
    <p:extLst>
      <p:ext uri="{BB962C8B-B14F-4D97-AF65-F5344CB8AC3E}">
        <p14:creationId xmlns:p14="http://schemas.microsoft.com/office/powerpoint/2010/main" val="168272407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DA50A6-F839-4FF8-BD35-845759F10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333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8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158FE8-48C6-4C50-85DE-A1D32BFF4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762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36273"/>
                </a:solidFill>
                <a:latin typeface="Arial"/>
                <a:ea typeface="Arial"/>
                <a:cs typeface="Arial"/>
              </a:rPr>
              <a:t>ÉLITE SPORT  /  PROYECTO DE SISTEMAS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24B619-CC35-4BCB-BA9C-C35C0593B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1066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0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30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30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30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30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30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30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30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30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30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3000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293D"/>
                </a:solidFill>
                <a:latin typeface="Arial"/>
                <a:ea typeface="Arial"/>
                <a:cs typeface="Arial"/>
              </a:rPr>
              <a:t>Pendientes antes de producción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B62AA0-3E91-4350-84AA-B9345E0DF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3627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200" b="1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536273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516B1D-04E0-405D-86AA-5E63AA764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050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8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7BCE99-A4B2-45F8-B830-28C95E48C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90700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65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65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65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65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65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65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65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65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65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65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Instalar dependencias y compilar React: npm no resuelve registry.npmjs.org en este entorno.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DFEBA1-AFA2-485B-AA95-9F9DFC208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241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8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F67CD9-6FAF-4D3A-837B-436CDE028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09850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65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65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65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65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65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65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65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65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65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65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Validar tablas, claves, triggers, funciones y RLS con la instancia Supabase de desarrollo.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68DC58-EA7A-4E7C-9594-59B1A1818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43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8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9EEE74-A808-4B5B-92E0-61BA065B7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29000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65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65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65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65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65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65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65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65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65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65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Configurar y probar Webhooks de Mercado Pago sin generar cobros reales.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D58D0D-8B77-4AB5-B8C9-25F74DE29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624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89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34A21B-DFAE-43ED-AD93-3966E2C18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48150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65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65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65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65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65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65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65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65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65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650" b="0">
                <a:solidFill>
                  <a:srgbClr val="53627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36273"/>
                </a:solidFill>
                <a:latin typeface="Arial"/>
                <a:ea typeface="Arial"/>
                <a:cs typeface="Arial"/>
              </a:rPr>
              <a:t>Completar alta de productos y categorías después de confirmar su relación real con deportes.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1C51C2-4395-4D43-BD24-63BB82DE6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1020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defPPr>
            <a:lvl1pPr>
              <a:buNone/>
              <a:defRPr sz="1575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1pPr>
            <a:lvl2pPr>
              <a:buNone/>
              <a:defRPr sz="1575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2pPr>
            <a:lvl3pPr>
              <a:buNone/>
              <a:defRPr sz="1575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3pPr>
            <a:lvl4pPr>
              <a:buNone/>
              <a:defRPr sz="1575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4pPr>
            <a:lvl5pPr>
              <a:buNone/>
              <a:defRPr sz="1575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5pPr>
            <a:lvl6pPr>
              <a:buNone/>
              <a:defRPr sz="1575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6pPr>
            <a:lvl7pPr>
              <a:buNone/>
              <a:defRPr sz="1575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7pPr>
            <a:lvl8pPr>
              <a:buNone/>
              <a:defRPr sz="1575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8pPr>
            <a:lvl9pPr>
              <a:buNone/>
              <a:defRPr sz="1575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  <a:defRPr sz="1575" b="1">
                <a:solidFill>
                  <a:srgbClr val="17293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293D"/>
                </a:solidFill>
                <a:latin typeface="Arial"/>
                <a:ea typeface="Arial"/>
                <a:cs typeface="Arial"/>
              </a:rPr>
              <a:t>No se ejecutaron migraciones ni se modificaron datos de producción.</a:t>
            </a:r>
          </a:p>
        </p:txBody>
      </p:sp>
    </p:spTree>
    <p:extLst>
      <p:ext uri="{BB962C8B-B14F-4D97-AF65-F5344CB8AC3E}">
        <p14:creationId xmlns:p14="http://schemas.microsoft.com/office/powerpoint/2010/main" val="7907520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2026-10-19T00:10:16.1300000Z</dcterms:created>
  <dcterms:modified xsi:type="dcterms:W3CDTF">2026-10-19T00:10:16.1300000Z</dcterms:modified>
</coreProperties>
</file>